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66" r:id="rId12"/>
    <p:sldId id="277" r:id="rId13"/>
    <p:sldId id="278" r:id="rId14"/>
    <p:sldId id="267" r:id="rId15"/>
    <p:sldId id="268" r:id="rId16"/>
    <p:sldId id="275" r:id="rId17"/>
    <p:sldId id="270" r:id="rId18"/>
    <p:sldId id="276" r:id="rId19"/>
    <p:sldId id="272" r:id="rId20"/>
    <p:sldId id="27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AD1EC0-54FC-4015-8A5B-62EBE25DD58D}" v="5" dt="2025-12-15T03:08:32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616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yash1thredddy/Calendar-APP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405086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APPLICATION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71500" y="1755577"/>
            <a:ext cx="7335203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 Management System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571500" y="2490788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Command-Line Event Management Application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3100388"/>
            <a:ext cx="745629" cy="325636"/>
          </a:xfrm>
          <a:prstGeom prst="roundRect">
            <a:avLst>
              <a:gd name="adj" fmla="val 11700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3176588"/>
            <a:ext cx="4496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11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431429" y="3100388"/>
            <a:ext cx="676573" cy="325636"/>
          </a:xfrm>
          <a:prstGeom prst="roundRect">
            <a:avLst>
              <a:gd name="adj" fmla="val 117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83829" y="3176588"/>
            <a:ext cx="3792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Maven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222302" y="3100388"/>
            <a:ext cx="690265" cy="325636"/>
          </a:xfrm>
          <a:prstGeom prst="roundRect">
            <a:avLst>
              <a:gd name="adj" fmla="val 117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74702" y="3176588"/>
            <a:ext cx="39317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JUnit 5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7759154" y="4602510"/>
            <a:ext cx="8296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December 2024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A067E0-1F51-2A91-82AE-2037C0875D4A}"/>
              </a:ext>
            </a:extLst>
          </p:cNvPr>
          <p:cNvSpPr txBox="1"/>
          <p:nvPr/>
        </p:nvSpPr>
        <p:spPr>
          <a:xfrm>
            <a:off x="457200" y="3705497"/>
            <a:ext cx="52251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Yashwanth Reddy Dasari</a:t>
            </a:r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156F83D9-C526-473C-1EDE-D40833934129}"/>
              </a:ext>
            </a:extLst>
          </p:cNvPr>
          <p:cNvSpPr/>
          <p:nvPr/>
        </p:nvSpPr>
        <p:spPr>
          <a:xfrm>
            <a:off x="571500" y="4107333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0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Link - </a:t>
            </a:r>
            <a:r>
              <a:rPr lang="en-IN" sz="1300" dirty="0">
                <a:hlinkClick r:id="rId4"/>
              </a:rPr>
              <a:t>yash1thredddy/Calendar-APP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732806"/>
            <a:ext cx="3602236" cy="1081832"/>
          </a:xfrm>
          <a:prstGeom prst="roundRect">
            <a:avLst>
              <a:gd name="adj" fmla="val 704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700" y="1923306"/>
            <a:ext cx="32856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THIS APPLICATION?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7700" y="2197596"/>
            <a:ext cx="32856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simple yet powerful command-line application for managing calendar events and appointments.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67038"/>
            <a:ext cx="3602236" cy="830461"/>
          </a:xfrm>
          <a:prstGeom prst="roundRect">
            <a:avLst>
              <a:gd name="adj" fmla="val 917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7700" y="3157538"/>
            <a:ext cx="328566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47700" y="3420368"/>
            <a:ext cx="32856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11 + Maven + JUnit 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64236" y="1702445"/>
            <a:ext cx="4322564" cy="2125266"/>
          </a:xfrm>
          <a:prstGeom prst="roundRect">
            <a:avLst>
              <a:gd name="adj" fmla="val 3585"/>
            </a:avLst>
          </a:prstGeom>
          <a:solidFill>
            <a:srgbClr val="E8F5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83286" y="1702445"/>
            <a:ext cx="0" cy="2125266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92836" y="1892945"/>
            <a:ext cx="39815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1200"/>
              </a:spcAft>
              <a:buNone/>
            </a:pPr>
            <a:r>
              <a:rPr lang="en-US" sz="1125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Capabilities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592836" y="2216795"/>
            <a:ext cx="39815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36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Create and manage events with title, start time, and end time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592836" y="2466231"/>
            <a:ext cx="39815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36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Automatic overlap detection to prevent double-booking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592836" y="2715667"/>
            <a:ext cx="39815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36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Smart time slot finding for scheduling appointments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592836" y="2965103"/>
            <a:ext cx="39815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36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events for today, specific dates, or all events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592836" y="3214539"/>
            <a:ext cx="39815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36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unwanted events with selection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592836" y="3463975"/>
            <a:ext cx="39815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365"/>
              </a:lnSpc>
              <a:buFont typeface="Arial" panose="020B0604020202020204" pitchFamily="34" charset="0"/>
              <a:buChar char="•"/>
            </a:pPr>
            <a:r>
              <a:rPr lang="en-US" sz="9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booking from available time slots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92608" y="469210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Features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549896"/>
            <a:ext cx="2616250" cy="2392412"/>
          </a:xfrm>
          <a:prstGeom prst="roundRect">
            <a:avLst>
              <a:gd name="adj" fmla="val 318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568946"/>
            <a:ext cx="2616250" cy="0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7700" y="1778496"/>
            <a:ext cx="22799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9046" y="2266057"/>
            <a:ext cx="25444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26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Create events with validation (title, start, end)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2846" y="2593765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26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overlap prevention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5347" y="2946730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26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Delete events by selection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5346" y="3255838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26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 sorted by start time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63950" y="1629817"/>
            <a:ext cx="2616250" cy="2232422"/>
          </a:xfrm>
          <a:prstGeom prst="roundRect">
            <a:avLst>
              <a:gd name="adj" fmla="val 341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63950" y="1648867"/>
            <a:ext cx="2616250" cy="0"/>
          </a:xfrm>
          <a:prstGeom prst="line">
            <a:avLst/>
          </a:prstGeom>
          <a:noFill/>
          <a:ln w="381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54450" y="1858417"/>
            <a:ext cx="22799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Viewing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4450" y="2345978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26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all events for today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54450" y="2734568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26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List remaining/upcoming events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54450" y="3123158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26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List events for any specific 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54450" y="3511748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26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List all events across all dates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70699" y="1648867"/>
            <a:ext cx="2616250" cy="2194322"/>
          </a:xfrm>
          <a:prstGeom prst="roundRect">
            <a:avLst>
              <a:gd name="adj" fmla="val 3473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61199" y="1839367"/>
            <a:ext cx="22799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Scheduling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1199" y="2326928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26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Find available slots of any duration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1199" y="2715518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26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Shows ALL available slots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1199" y="3104108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26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booking from search results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1199" y="3492698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26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30-minute increment suggestions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2608" y="469210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4517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Enhanced User Experience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87630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Basic Requirements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984028"/>
            <a:ext cx="4019550" cy="855315"/>
          </a:xfrm>
          <a:prstGeom prst="roundRect">
            <a:avLst>
              <a:gd name="adj" fmla="val 890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85775" y="1984028"/>
            <a:ext cx="0" cy="855315"/>
          </a:xfrm>
          <a:prstGeom prst="line">
            <a:avLst/>
          </a:prstGeom>
          <a:noFill/>
          <a:ln w="5715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66750" y="2136428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Slot Finding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6750" y="2372618"/>
            <a:ext cx="37307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multiple available slots instead of just one. User picks the slot they want. Instant booking from search results.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57200" y="2991743"/>
            <a:ext cx="4019550" cy="855315"/>
          </a:xfrm>
          <a:prstGeom prst="roundRect">
            <a:avLst>
              <a:gd name="adj" fmla="val 890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5775" y="2991743"/>
            <a:ext cx="0" cy="855315"/>
          </a:xfrm>
          <a:prstGeom prst="line">
            <a:avLst/>
          </a:prstGeom>
          <a:noFill/>
          <a:ln w="5715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6750" y="3144143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Actions Menu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6750" y="3380333"/>
            <a:ext cx="37307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 operations without returning to main menu. Context-specific actions for smooth workflow efficiency.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67250" y="1984028"/>
            <a:ext cx="4019550" cy="855315"/>
          </a:xfrm>
          <a:prstGeom prst="roundRect">
            <a:avLst>
              <a:gd name="adj" fmla="val 890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95825" y="1984028"/>
            <a:ext cx="0" cy="855315"/>
          </a:xfrm>
          <a:prstGeom prst="line">
            <a:avLst/>
          </a:prstGeom>
          <a:noFill/>
          <a:ln w="5715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76800" y="2136428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Validation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76800" y="2372618"/>
            <a:ext cx="37307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Retry on wrong format (doesn't crash to menu). Clear error messages with examples. User-friendly prompts throughout.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67250" y="2991743"/>
            <a:ext cx="4019550" cy="855315"/>
          </a:xfrm>
          <a:prstGeom prst="roundRect">
            <a:avLst>
              <a:gd name="adj" fmla="val 890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9650" y="3144143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Summaries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19650" y="3380333"/>
            <a:ext cx="37890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day statistics after creating events. Total events, scheduled time, next available slot at a glance.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92608" y="469210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87630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Layered Architecture with SOLID Principles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282601"/>
            <a:ext cx="4669929" cy="624632"/>
          </a:xfrm>
          <a:prstGeom prst="roundRect">
            <a:avLst>
              <a:gd name="adj" fmla="val 12199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6518" y="1415951"/>
            <a:ext cx="44912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CalendarApp (Presentation Layer)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46518" y="1627287"/>
            <a:ext cx="44912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Menu and User Input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10501" y="2002482"/>
            <a:ext cx="47633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337643"/>
            <a:ext cx="4669929" cy="624632"/>
          </a:xfrm>
          <a:prstGeom prst="roundRect">
            <a:avLst>
              <a:gd name="adj" fmla="val 12199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6518" y="2470993"/>
            <a:ext cx="44912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CalendarServiceImpl (Business Layer)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46518" y="2682329"/>
            <a:ext cx="44912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and Orchestration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10501" y="3057525"/>
            <a:ext cx="47633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3392686"/>
            <a:ext cx="2258764" cy="388590"/>
          </a:xfrm>
          <a:prstGeom prst="roundRect">
            <a:avLst>
              <a:gd name="adj" fmla="val 19609"/>
            </a:avLst>
          </a:prstGeom>
          <a:solidFill>
            <a:srgbClr val="F5F7FA"/>
          </a:solidFill>
          <a:ln w="19050">
            <a:solidFill>
              <a:srgbClr val="00BF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1198" y="3506986"/>
            <a:ext cx="20707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EventStorage Interface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68364" y="3392686"/>
            <a:ext cx="2258764" cy="388590"/>
          </a:xfrm>
          <a:prstGeom prst="roundRect">
            <a:avLst>
              <a:gd name="adj" fmla="val 19609"/>
            </a:avLst>
          </a:prstGeom>
          <a:solidFill>
            <a:srgbClr val="F5F7FA"/>
          </a:solidFill>
          <a:ln w="19050">
            <a:solidFill>
              <a:srgbClr val="00BF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62363" y="3506986"/>
            <a:ext cx="20707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SlotFinder Interface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0501" y="3876526"/>
            <a:ext cx="476332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en-US" sz="13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              ↓                                                 ↓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4211687"/>
            <a:ext cx="2258764" cy="337096"/>
          </a:xfrm>
          <a:prstGeom prst="roundRect">
            <a:avLst>
              <a:gd name="adj" fmla="val 22605"/>
            </a:avLst>
          </a:prstGeom>
          <a:solidFill>
            <a:srgbClr val="E8F5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6250" y="4211687"/>
            <a:ext cx="0" cy="337096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0248" y="4306937"/>
            <a:ext cx="20707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InMemoryEventStorage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868364" y="4211687"/>
            <a:ext cx="2258764" cy="337096"/>
          </a:xfrm>
          <a:prstGeom prst="roundRect">
            <a:avLst>
              <a:gd name="adj" fmla="val 22605"/>
            </a:avLst>
          </a:prstGeom>
          <a:solidFill>
            <a:srgbClr val="E8F5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887414" y="4211687"/>
            <a:ext cx="0" cy="337096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981413" y="4306937"/>
            <a:ext cx="20707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StandardSlotFinder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431929" y="1098500"/>
            <a:ext cx="3254871" cy="3634234"/>
          </a:xfrm>
          <a:prstGeom prst="roundRect">
            <a:avLst>
              <a:gd name="adj" fmla="val 234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22429" y="1289000"/>
            <a:ext cx="29313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COMPONENTS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22429" y="1753791"/>
            <a:ext cx="29313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22429" y="2104281"/>
            <a:ext cx="29313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interaction via CalendarApp CLI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622429" y="2517577"/>
            <a:ext cx="29313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Layer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22429" y="2868067"/>
            <a:ext cx="29313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and validation in CalendarServiceImpl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622429" y="3281363"/>
            <a:ext cx="29313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22429" y="3631853"/>
            <a:ext cx="29313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abstraction via EventStorage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622429" y="4045148"/>
            <a:ext cx="29313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Layer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22429" y="4395639"/>
            <a:ext cx="29313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 finding via SlotFinder interface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292608" y="469210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Decisions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87630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sz="10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Choices and Rationale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755428"/>
            <a:ext cx="2616250" cy="2358330"/>
          </a:xfrm>
          <a:prstGeom prst="roundRect">
            <a:avLst>
              <a:gd name="adj" fmla="val 323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7700" y="1945928"/>
            <a:ext cx="227995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INTERFACES?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47700" y="2399258"/>
            <a:ext cx="22799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EventStorage interface lets me swap storage types easily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7700" y="2989808"/>
            <a:ext cx="22799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Could add file storage or database later without changing the service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7700" y="3580358"/>
            <a:ext cx="22799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testing easier with different implementations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63950" y="1774627"/>
            <a:ext cx="2616250" cy="2320082"/>
          </a:xfrm>
          <a:prstGeom prst="roundRect">
            <a:avLst>
              <a:gd name="adj" fmla="val 328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54450" y="1965127"/>
            <a:ext cx="227995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SEPARATION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454450" y="2418457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Event:</a:t>
            </a: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Just holds the 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54450" y="2807047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EventStorage:</a:t>
            </a: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Handles saving/loading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54450" y="3195638"/>
            <a:ext cx="22799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CalendarServiceImpl:</a:t>
            </a: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Main logic and validation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54450" y="3744218"/>
            <a:ext cx="2279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SlotFinder:</a:t>
            </a:r>
            <a:r>
              <a:rPr lang="en-US" sz="900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Available times algorithm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70699" y="1841153"/>
            <a:ext cx="2616250" cy="2186880"/>
          </a:xfrm>
          <a:prstGeom prst="roundRect">
            <a:avLst>
              <a:gd name="adj" fmla="val 3484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61199" y="2031653"/>
            <a:ext cx="227995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FACTORY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261199" y="2484983"/>
            <a:ext cx="22799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place to create and wire everything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1199" y="3075533"/>
            <a:ext cx="22799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Easier to manage dependencies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61199" y="3494633"/>
            <a:ext cx="22799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Cleaner than creating objects in the main app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2608" y="469210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Structure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0485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Classes | 6 Test Files | 41 Tests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50315" y="1152824"/>
            <a:ext cx="4025742" cy="3285826"/>
          </a:xfrm>
          <a:prstGeom prst="roundRect">
            <a:avLst>
              <a:gd name="adj" fmla="val 250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1095" y="1193978"/>
            <a:ext cx="42643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IN" sz="800" dirty="0" err="1">
                <a:solidFill>
                  <a:schemeClr val="bg1"/>
                </a:solidFill>
              </a:rPr>
              <a:t>src</a:t>
            </a:r>
            <a:r>
              <a:rPr lang="en-IN" sz="800" dirty="0">
                <a:solidFill>
                  <a:schemeClr val="bg1"/>
                </a:solidFill>
              </a:rPr>
              <a:t>/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├── main/java/com/calendar/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├── CalendarApp.java              # Main application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├── model/                         # Data models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│   ├── Event.java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│   └── TimeSlot.java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├── service/                       # Core logic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│   ├── CalendarServiceImpl.java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│   ├── EventStorage.java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│   ├── InMemoryEventStorage.java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│   ├── SlotFinder.java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│   └── StandardSlotFinder.java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├── factory/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│   └── ServiceFactory.java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└── exception/                     # Custom exceptions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    ├── EventOverlapException.java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    ├── InvalidEventException.java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│       └── StorageException.java</a:t>
            </a:r>
          </a:p>
          <a:p>
            <a:pPr>
              <a:spcAft>
                <a:spcPts val="300"/>
              </a:spcAft>
            </a:pPr>
            <a:r>
              <a:rPr lang="en-IN" sz="800" dirty="0">
                <a:solidFill>
                  <a:schemeClr val="bg1"/>
                </a:solidFill>
              </a:rPr>
              <a:t>└── test/java/com/calendar/           # Test files</a:t>
            </a:r>
            <a:br>
              <a:rPr lang="en-IN" sz="800" dirty="0">
                <a:solidFill>
                  <a:schemeClr val="bg1"/>
                </a:solidFill>
              </a:rPr>
            </a:b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213360" y="47683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57200" y="679996"/>
            <a:ext cx="45565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Run the Application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258" y="1281318"/>
            <a:ext cx="4171953" cy="1062633"/>
          </a:xfrm>
          <a:prstGeom prst="roundRect">
            <a:avLst>
              <a:gd name="adj" fmla="val 717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12826" y="1273077"/>
            <a:ext cx="0" cy="1028178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565880" y="2740649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1: IntelliJ IDEA (Recommended)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85216" y="2950132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Open project in IntelliJ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85216" y="3125035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Navigate to CalendarApp.java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85216" y="3318539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Right-click → Run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12826" y="2644151"/>
            <a:ext cx="4000500" cy="1024533"/>
          </a:xfrm>
          <a:prstGeom prst="roundRect">
            <a:avLst>
              <a:gd name="adj" fmla="val 743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2826" y="2613745"/>
            <a:ext cx="0" cy="1024533"/>
          </a:xfrm>
          <a:prstGeom prst="line">
            <a:avLst/>
          </a:prstGeom>
          <a:noFill/>
          <a:ln w="381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620649" y="3879107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2: Using Maven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47700" y="4143079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BFA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 mvn clean compile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47700" y="4374449"/>
            <a:ext cx="373075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BFA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 mvn exec:java -Dexec.mainClass="com.calendar.CalendarApp"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828034" y="1729044"/>
            <a:ext cx="4000500" cy="2373362"/>
          </a:xfrm>
          <a:prstGeom prst="roundRect">
            <a:avLst>
              <a:gd name="adj" fmla="val 3211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86325" y="1927920"/>
            <a:ext cx="3672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050"/>
              </a:spcAft>
              <a:buNone/>
            </a:pPr>
            <a:r>
              <a:rPr lang="en-US" sz="9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MENU OPTIONS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86325" y="2221260"/>
            <a:ext cx="3672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1. Create New Event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86325" y="2438400"/>
            <a:ext cx="3672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2. List All Events for Today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86325" y="2655540"/>
            <a:ext cx="3672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3. List Remaining Events for Today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86325" y="2872680"/>
            <a:ext cx="3672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4. List Events for Specific Day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86325" y="3089821"/>
            <a:ext cx="3672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5. Find Next Available Slot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86325" y="3306961"/>
            <a:ext cx="3672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6. List All Events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86325" y="3524101"/>
            <a:ext cx="3672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7. Delete Event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86325" y="3741241"/>
            <a:ext cx="3672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8. Exit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" y="469210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25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5273F079-A9F3-248B-6E5F-AF8933EB57B8}"/>
              </a:ext>
            </a:extLst>
          </p:cNvPr>
          <p:cNvSpPr/>
          <p:nvPr/>
        </p:nvSpPr>
        <p:spPr>
          <a:xfrm>
            <a:off x="485775" y="3843131"/>
            <a:ext cx="4000500" cy="1062633"/>
          </a:xfrm>
          <a:prstGeom prst="roundRect">
            <a:avLst>
              <a:gd name="adj" fmla="val 717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>
              <a:lnSpc>
                <a:spcPts val="1155"/>
              </a:lnSpc>
              <a:spcAft>
                <a:spcPts val="750"/>
              </a:spcAft>
            </a:pPr>
            <a:endParaRPr lang="en-US" sz="85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7F86E689-339B-EAD5-BDC6-2E7B98B57AF5}"/>
              </a:ext>
            </a:extLst>
          </p:cNvPr>
          <p:cNvSpPr/>
          <p:nvPr/>
        </p:nvSpPr>
        <p:spPr>
          <a:xfrm>
            <a:off x="512826" y="3862182"/>
            <a:ext cx="0" cy="1024533"/>
          </a:xfrm>
          <a:prstGeom prst="line">
            <a:avLst/>
          </a:prstGeom>
          <a:noFill/>
          <a:ln w="38100">
            <a:solidFill>
              <a:srgbClr val="5A657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17911FAA-5D3D-CCE7-78E3-8FDCF9C6FADE}"/>
              </a:ext>
            </a:extLst>
          </p:cNvPr>
          <p:cNvSpPr/>
          <p:nvPr/>
        </p:nvSpPr>
        <p:spPr>
          <a:xfrm>
            <a:off x="620649" y="1300369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1: Command Line (No Build Tools </a:t>
            </a:r>
            <a:r>
              <a:rPr lang="en-US" sz="825" b="1" dirty="0" err="1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Requried</a:t>
            </a:r>
            <a:r>
              <a:rPr lang="en-US" sz="82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825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40212F12-A84A-BEDC-3291-20330625E29F}"/>
              </a:ext>
            </a:extLst>
          </p:cNvPr>
          <p:cNvSpPr/>
          <p:nvPr/>
        </p:nvSpPr>
        <p:spPr>
          <a:xfrm>
            <a:off x="620648" y="1528155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#Compile</a:t>
            </a:r>
          </a:p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endParaRPr lang="en-US" sz="825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6D4FDA63-326D-CC12-6BA0-B67B5E14CFFC}"/>
              </a:ext>
            </a:extLst>
          </p:cNvPr>
          <p:cNvSpPr/>
          <p:nvPr/>
        </p:nvSpPr>
        <p:spPr>
          <a:xfrm>
            <a:off x="620648" y="1867267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cs typeface="Segoe UI" pitchFamily="34" charset="-120"/>
              </a:rPr>
              <a:t>#Run</a:t>
            </a:r>
            <a:endParaRPr lang="en-US" sz="825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13E055AE-8FBE-9463-C372-A807AC49C53C}"/>
              </a:ext>
            </a:extLst>
          </p:cNvPr>
          <p:cNvSpPr/>
          <p:nvPr/>
        </p:nvSpPr>
        <p:spPr>
          <a:xfrm>
            <a:off x="620647" y="1705550"/>
            <a:ext cx="4171955" cy="174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IN" sz="900">
                <a:solidFill>
                  <a:srgbClr val="6AAB73"/>
                </a:solidFill>
                <a:effectLst/>
                <a:latin typeface="JetBrains Mono"/>
              </a:rPr>
              <a:t>javac -d out -sourcepath src/main/java src/main/java/com/calendar/CalendarApp.java</a:t>
            </a:r>
            <a:br>
              <a:rPr lang="en-IN" sz="900">
                <a:solidFill>
                  <a:srgbClr val="6AAB73"/>
                </a:solidFill>
                <a:effectLst/>
                <a:latin typeface="JetBrains Mono"/>
              </a:rPr>
            </a:br>
            <a:endParaRPr lang="en-IN" sz="90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2F7D9637-323A-3CA2-3D37-F69D8209C7EB}"/>
              </a:ext>
            </a:extLst>
          </p:cNvPr>
          <p:cNvSpPr/>
          <p:nvPr/>
        </p:nvSpPr>
        <p:spPr>
          <a:xfrm>
            <a:off x="620649" y="2066106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IN" sz="900" dirty="0">
                <a:solidFill>
                  <a:srgbClr val="6AAB73"/>
                </a:solidFill>
                <a:effectLst/>
                <a:latin typeface="JetBrains Mono"/>
              </a:rPr>
              <a:t>java -cp out </a:t>
            </a:r>
            <a:r>
              <a:rPr lang="en-IN" sz="900" dirty="0" err="1">
                <a:solidFill>
                  <a:srgbClr val="6AAB73"/>
                </a:solidFill>
                <a:effectLst/>
                <a:latin typeface="JetBrains Mono"/>
              </a:rPr>
              <a:t>com.calendar.CalendarApp</a:t>
            </a:r>
            <a:endParaRPr lang="en-IN" sz="900" dirty="0">
              <a:solidFill>
                <a:srgbClr val="BCBEC4"/>
              </a:solidFill>
              <a:effectLst/>
              <a:latin typeface="JetBrains Mono"/>
            </a:endParaRPr>
          </a:p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9100" y="31432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352425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9650" y="266700"/>
            <a:ext cx="26432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 an Event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9100" y="2098328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4705" y="2129730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23900" y="2098328"/>
            <a:ext cx="1924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Option 1 — Create New Event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9100" y="2422178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4705" y="2453580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723900" y="2422178"/>
            <a:ext cx="18079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event details (title, start, end)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9100" y="2746028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4705" y="2777430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23900" y="2746028"/>
            <a:ext cx="1470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created with summary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9100" y="3069878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4705" y="3101280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723900" y="3069878"/>
            <a:ext cx="14840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Actions menu appears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32920" y="1517303"/>
            <a:ext cx="4891980" cy="2343150"/>
          </a:xfrm>
          <a:prstGeom prst="roundRect">
            <a:avLst>
              <a:gd name="adj" fmla="val 3252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94845" y="1679228"/>
            <a:ext cx="465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Title: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994845" y="1812578"/>
            <a:ext cx="465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Meeting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94845" y="2003078"/>
            <a:ext cx="465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Time (yyyy-MM-dd HH:mm):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994845" y="2136428"/>
            <a:ext cx="465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2025-12-15 10:00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994845" y="2326928"/>
            <a:ext cx="465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Time (yyyy-MM-dd HH:mm):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994845" y="2460278"/>
            <a:ext cx="465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2025-12-15 11:00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994845" y="2688878"/>
            <a:ext cx="465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Event Created Successfully!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994845" y="2917478"/>
            <a:ext cx="4568130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71045" y="2993678"/>
            <a:ext cx="4504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Details: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071045" y="3127028"/>
            <a:ext cx="4504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Title: Team Meeting | Date: 2025-12-15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071045" y="3260378"/>
            <a:ext cx="4504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Time: 10:00 - 11:00 | Duration: 60 min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994845" y="3565178"/>
            <a:ext cx="465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Summary: 1 event | Next slot: 11:00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2984" y="4730204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9100" y="31432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352425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9650" y="266700"/>
            <a:ext cx="393766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and Booking Slots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9100" y="1641128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4705" y="1672530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23900" y="1641128"/>
            <a:ext cx="19356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Option 5 — Find Available Slot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9100" y="1964978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4705" y="1996380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723900" y="1964978"/>
            <a:ext cx="20867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duration (30m, 1hr, 2hr, custom)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9100" y="2288828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4705" y="2320230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23900" y="2288828"/>
            <a:ext cx="14170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all available time slots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9100" y="2612678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4705" y="2644080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723900" y="2612678"/>
            <a:ext cx="16911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directly from search results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2940" y="3012728"/>
            <a:ext cx="3669060" cy="984796"/>
          </a:xfrm>
          <a:prstGeom prst="roundRect">
            <a:avLst>
              <a:gd name="adj" fmla="val 580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38150" y="3012728"/>
            <a:ext cx="0" cy="984796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1500" y="3127028"/>
            <a:ext cx="34704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 OPTIONS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71500" y="3349823"/>
            <a:ext cx="3470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30 minutes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71500" y="3483173"/>
            <a:ext cx="3470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1 hour (60 minutes)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71500" y="3616523"/>
            <a:ext cx="3470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2 hours (120 minutes)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71500" y="3749873"/>
            <a:ext cx="3470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Custom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034707" y="1700180"/>
            <a:ext cx="4484340" cy="2314575"/>
          </a:xfrm>
          <a:prstGeom prst="roundRect">
            <a:avLst>
              <a:gd name="adj" fmla="val 3292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83435" y="1804988"/>
            <a:ext cx="4282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Slots on 2025-12-15: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83435" y="1938337"/>
            <a:ext cx="4282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5A6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Duration: 60 minutes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383435" y="2147888"/>
            <a:ext cx="4198590" cy="819150"/>
          </a:xfrm>
          <a:prstGeom prst="roundRect">
            <a:avLst>
              <a:gd name="adj" fmla="val 4651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59635" y="2224088"/>
            <a:ext cx="41271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r>
              <a:rPr lang="en-US" sz="7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09:00 - 10:00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459635" y="2357438"/>
            <a:ext cx="41271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r>
              <a:rPr lang="en-US" sz="7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11:00 - 12:00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459635" y="2490788"/>
            <a:ext cx="41271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</a:t>
            </a:r>
            <a:r>
              <a:rPr lang="en-US" sz="7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12:00 - 13:00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459635" y="2624138"/>
            <a:ext cx="41271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r>
              <a:rPr lang="en-US" sz="7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13:00 - 14:00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459635" y="2757488"/>
            <a:ext cx="41271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</a:t>
            </a:r>
            <a:r>
              <a:rPr lang="en-US" sz="7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14:00 - 15:00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383435" y="3043238"/>
            <a:ext cx="4282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8 slot(s) available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83435" y="3276600"/>
            <a:ext cx="419859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3435" y="3376613"/>
            <a:ext cx="4282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one? (y/n): </a:t>
            </a:r>
            <a:r>
              <a:rPr lang="en-US" sz="75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83435" y="3509963"/>
            <a:ext cx="4282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 number: </a:t>
            </a:r>
            <a:r>
              <a:rPr lang="en-US" sz="750" dirty="0">
                <a:solidFill>
                  <a:srgbClr val="00B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383435" y="3700463"/>
            <a:ext cx="4282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Booked: Client Call (11:00-12:00)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722519" y="4768304"/>
            <a:ext cx="1190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9100" y="31432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352425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9650" y="266700"/>
            <a:ext cx="28508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Overlap Prevention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9100" y="1091059"/>
            <a:ext cx="3634680" cy="834182"/>
          </a:xfrm>
          <a:prstGeom prst="roundRect">
            <a:avLst>
              <a:gd name="adj" fmla="val 9135"/>
            </a:avLst>
          </a:prstGeom>
          <a:solidFill>
            <a:srgbClr val="E8F5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8150" y="1091059"/>
            <a:ext cx="0" cy="834182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09600" y="1243459"/>
            <a:ext cx="3357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EVENT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09600" y="1466255"/>
            <a:ext cx="3357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Meeting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600" y="1626245"/>
            <a:ext cx="3357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2025-12-15 10:00 - 11:00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19100" y="2077641"/>
            <a:ext cx="3634680" cy="834182"/>
          </a:xfrm>
          <a:prstGeom prst="roundRect">
            <a:avLst>
              <a:gd name="adj" fmla="val 913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8150" y="2077641"/>
            <a:ext cx="0" cy="83418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9600" y="2230041"/>
            <a:ext cx="3357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TRYING TO CREATE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09600" y="2452836"/>
            <a:ext cx="3357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Call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9600" y="2612827"/>
            <a:ext cx="3357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2025-12-15 10:30 - 11:30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19100" y="3064222"/>
            <a:ext cx="3634680" cy="1260723"/>
          </a:xfrm>
          <a:prstGeom prst="roundRect">
            <a:avLst>
              <a:gd name="adj" fmla="val 604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500" y="3216622"/>
            <a:ext cx="33964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Prevention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" y="3471863"/>
            <a:ext cx="3396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against all existing events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71500" y="3656558"/>
            <a:ext cx="3396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for any time overlap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71500" y="3841254"/>
            <a:ext cx="3396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error message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71500" y="4025950"/>
            <a:ext cx="3396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Doesn't crash - returns to menu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282380" y="1391096"/>
            <a:ext cx="4442520" cy="2633811"/>
          </a:xfrm>
          <a:prstGeom prst="roundRect">
            <a:avLst>
              <a:gd name="adj" fmla="val 2893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63355" y="1572071"/>
            <a:ext cx="41621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Title: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463355" y="1718667"/>
            <a:ext cx="41621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Call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463355" y="1960513"/>
            <a:ext cx="41621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Time: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463355" y="2107109"/>
            <a:ext cx="41621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2025-12-15 10:30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463355" y="2348954"/>
            <a:ext cx="41621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Time: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463355" y="2495550"/>
            <a:ext cx="41621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2025-12-15 11:30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463355" y="2794546"/>
            <a:ext cx="4080570" cy="1049387"/>
          </a:xfrm>
          <a:prstGeom prst="roundRect">
            <a:avLst>
              <a:gd name="adj" fmla="val 5446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482405" y="2794546"/>
            <a:ext cx="0" cy="1049387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34805" y="2927896"/>
            <a:ext cx="38512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Overlap Error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634805" y="3150691"/>
            <a:ext cx="38512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overlaps with existing event(s).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634805" y="3335387"/>
            <a:ext cx="38512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add overlapping events.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634805" y="3577233"/>
            <a:ext cx="38512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Please choose a different time.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52984" y="4730204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Handling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06860"/>
            <a:ext cx="2616250" cy="2146846"/>
          </a:xfrm>
          <a:prstGeom prst="roundRect">
            <a:avLst>
              <a:gd name="adj" fmla="val 3549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1468785"/>
            <a:ext cx="23382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DATE FORMAT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19125" y="1863030"/>
            <a:ext cx="2338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Time: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19125" y="2148780"/>
            <a:ext cx="2338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15-12-2025 10:00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19125" y="2510730"/>
            <a:ext cx="2338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Invalid format! Use: yyyy-MM-dd HH:mm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19125" y="2872680"/>
            <a:ext cx="2338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Time: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19125" y="3158430"/>
            <a:ext cx="2338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2025-12-15 10:00 ✓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63950" y="1592610"/>
            <a:ext cx="2616250" cy="1575346"/>
          </a:xfrm>
          <a:prstGeom prst="roundRect">
            <a:avLst>
              <a:gd name="adj" fmla="val 4837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5875" y="1754535"/>
            <a:ext cx="23382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OVERLAPPING EVENT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5875" y="2148780"/>
            <a:ext cx="2338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Trying to book 10:30-11:30 when 10:00-11:00 exists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25875" y="2510730"/>
            <a:ext cx="2338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overlaps with existing event(s).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25875" y="2872680"/>
            <a:ext cx="2338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add overlapping events.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70699" y="1487835"/>
            <a:ext cx="2616250" cy="1784896"/>
          </a:xfrm>
          <a:prstGeom prst="roundRect">
            <a:avLst>
              <a:gd name="adj" fmla="val 4269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32624" y="1649760"/>
            <a:ext cx="23382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VALIDATIONS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232624" y="2044005"/>
            <a:ext cx="2338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title: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232624" y="2329755"/>
            <a:ext cx="2338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 cannot be empty!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232624" y="2691705"/>
            <a:ext cx="2338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before start: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32624" y="2977455"/>
            <a:ext cx="23382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time must be after start time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4074914"/>
            <a:ext cx="8229600" cy="388590"/>
          </a:xfrm>
          <a:prstGeom prst="roundRect">
            <a:avLst>
              <a:gd name="adj" fmla="val 14707"/>
            </a:avLst>
          </a:prstGeom>
          <a:solidFill>
            <a:srgbClr val="E8F5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6250" y="4074914"/>
            <a:ext cx="0" cy="388590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09600" y="4189214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errors handled gracefully - retry prompt or return to menu, no crashes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" y="469210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4371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/ Getting Started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571923"/>
            <a:ext cx="4000500" cy="1081832"/>
          </a:xfrm>
          <a:prstGeom prst="roundRect">
            <a:avLst>
              <a:gd name="adj" fmla="val 7044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724323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STARTS EMPTY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1979563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CALENDAR APPLICATION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09600" y="2126159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AEC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Total Events: 0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09600" y="2368004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 stored in memory — lost on exit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2806154"/>
            <a:ext cx="4000500" cy="1076027"/>
          </a:xfrm>
          <a:prstGeom prst="roundRect">
            <a:avLst>
              <a:gd name="adj" fmla="val 708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6250" y="2806154"/>
            <a:ext cx="0" cy="1076027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7700" y="2958554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SUGGESTED TEST EVENTS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7700" y="3213795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Morning Standup: 09:30 - 10:00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47700" y="3398490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Team Meeting: 10:00 - 11:00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47700" y="3583186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Lunch Break: 12:00 - 13:00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86300" y="1778645"/>
            <a:ext cx="4000500" cy="1896814"/>
          </a:xfrm>
          <a:prstGeom prst="roundRect">
            <a:avLst>
              <a:gd name="adj" fmla="val 401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86300" y="1797695"/>
            <a:ext cx="4000500" cy="0"/>
          </a:xfrm>
          <a:prstGeom prst="line">
            <a:avLst/>
          </a:prstGeom>
          <a:noFill/>
          <a:ln w="381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38700" y="1969145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050"/>
              </a:spcAft>
              <a:buNone/>
            </a:pPr>
            <a:r>
              <a:rPr lang="en-US" sz="900" b="1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SUGGESTED TEST FLOW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38700" y="2262485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Create a few events for today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838700" y="2485281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Try creating an overlapping event (should fail)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38700" y="2708077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Find available slots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38700" y="2930872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Book a slot from search results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38700" y="3153668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View your schedule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38700" y="3376464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Delete an event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292608" y="469210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27144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Strategy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858125" y="306735"/>
            <a:ext cx="828675" cy="339030"/>
          </a:xfrm>
          <a:prstGeom prst="roundRect">
            <a:avLst>
              <a:gd name="adj" fmla="val 16857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10525" y="382935"/>
            <a:ext cx="5343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 Tests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332905"/>
            <a:ext cx="4211092" cy="1317873"/>
          </a:xfrm>
          <a:prstGeom prst="roundRect">
            <a:avLst>
              <a:gd name="adj" fmla="val 578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1332905"/>
            <a:ext cx="0" cy="1317873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7700" y="1500485"/>
            <a:ext cx="77602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Tests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98144" y="1485305"/>
            <a:ext cx="317748" cy="217140"/>
          </a:xfrm>
          <a:prstGeom prst="roundRect">
            <a:avLst>
              <a:gd name="adj" fmla="val 17546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93394" y="1513880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7700" y="1797695"/>
            <a:ext cx="3945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Event creation and validation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47700" y="1982391"/>
            <a:ext cx="3945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Overlap detection logic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47700" y="2167086"/>
            <a:ext cx="3945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TimeSlot validation and duration calculations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47700" y="2351782"/>
            <a:ext cx="3945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Edge cases (empty titles, invalid times)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57200" y="2803178"/>
            <a:ext cx="4211092" cy="1317873"/>
          </a:xfrm>
          <a:prstGeom prst="roundRect">
            <a:avLst>
              <a:gd name="adj" fmla="val 578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6250" y="2803178"/>
            <a:ext cx="0" cy="1317873"/>
          </a:xfrm>
          <a:prstGeom prst="line">
            <a:avLst/>
          </a:prstGeom>
          <a:noFill/>
          <a:ln w="381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7700" y="2970758"/>
            <a:ext cx="86710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Tests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98144" y="2955578"/>
            <a:ext cx="317748" cy="217140"/>
          </a:xfrm>
          <a:prstGeom prst="roundRect">
            <a:avLst>
              <a:gd name="adj" fmla="val 17546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93394" y="2984153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7700" y="3267968"/>
            <a:ext cx="3945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Event storage operations (save, find, delete)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47700" y="3452664"/>
            <a:ext cx="3945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Slot finding algorithm with various scenarios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47700" y="3637359"/>
            <a:ext cx="3945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Calendar service business logic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47700" y="3822055"/>
            <a:ext cx="3945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Service factory dependency wiring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96892" y="1493044"/>
            <a:ext cx="3789908" cy="2468017"/>
          </a:xfrm>
          <a:prstGeom prst="roundRect">
            <a:avLst>
              <a:gd name="adj" fmla="val 308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87392" y="1683544"/>
            <a:ext cx="34770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APPROACH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87392" y="1995934"/>
            <a:ext cx="34770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087392" y="2207270"/>
            <a:ext cx="34770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tests for each component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087392" y="2468166"/>
            <a:ext cx="34770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Implementations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5087392" y="2679502"/>
            <a:ext cx="34770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mocking for integration testing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087392" y="2940397"/>
            <a:ext cx="34770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Case Coverage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087392" y="3151733"/>
            <a:ext cx="34770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Boundary conditions tested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087392" y="3412629"/>
            <a:ext cx="34770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Tests Pass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5087392" y="3623965"/>
            <a:ext cx="34770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failures, 0 errors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292608" y="469210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Tests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85205"/>
            <a:ext cx="4000500" cy="1089273"/>
          </a:xfrm>
          <a:prstGeom prst="roundRect">
            <a:avLst>
              <a:gd name="adj" fmla="val 699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685205"/>
            <a:ext cx="0" cy="1089273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7700" y="837605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IntelliJ IDEA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47700" y="1106091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Right-click on src/test/java folder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47700" y="1290786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Select "Run 'All Tests'"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47700" y="1475482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View results in Run panel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57200" y="1926878"/>
            <a:ext cx="4000500" cy="910382"/>
          </a:xfrm>
          <a:prstGeom prst="roundRect">
            <a:avLst>
              <a:gd name="adj" fmla="val 837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6250" y="1926878"/>
            <a:ext cx="0" cy="910382"/>
          </a:xfrm>
          <a:prstGeom prst="line">
            <a:avLst/>
          </a:prstGeom>
          <a:noFill/>
          <a:ln w="381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7700" y="2079278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Maven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47700" y="2347764"/>
            <a:ext cx="3657600" cy="337096"/>
          </a:xfrm>
          <a:prstGeom prst="roundRect">
            <a:avLst>
              <a:gd name="adj" fmla="val 1130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2950" y="2443014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0BFA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 mvn test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57200" y="2989659"/>
            <a:ext cx="4000500" cy="1779240"/>
          </a:xfrm>
          <a:prstGeom prst="roundRect">
            <a:avLst>
              <a:gd name="adj" fmla="val 4283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3142059"/>
            <a:ext cx="3769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BREAKDOWN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9600" y="3416350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EventTest................13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09600" y="3587800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TimeSlotTest.............8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9600" y="3759250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InMemoryEventStorageTest.5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9600" y="3930700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StandardSlotFinderTest...4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9600" y="4102150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CalendarServiceImplTest..8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9600" y="4273600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0E0E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ServiceFactoryTest.......3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9600" y="4483150"/>
            <a:ext cx="376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BFA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Total...................41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86300" y="1396454"/>
            <a:ext cx="4000500" cy="2661196"/>
          </a:xfrm>
          <a:prstGeom prst="roundRect">
            <a:avLst>
              <a:gd name="adj" fmla="val 2863"/>
            </a:avLst>
          </a:prstGeom>
          <a:solidFill>
            <a:srgbClr val="0D1117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67275" y="1577429"/>
            <a:ext cx="3711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050"/>
              </a:spcAft>
              <a:buNone/>
            </a:pPr>
            <a:r>
              <a:rPr lang="en-US" sz="82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OUTPUT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867275" y="1857375"/>
            <a:ext cx="371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[INFO] T E S T 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67275" y="2066925"/>
            <a:ext cx="371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[INFO] Running EventTest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67275" y="2200275"/>
            <a:ext cx="371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[INFO] Tests run: 13, Failures: 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67275" y="2371725"/>
            <a:ext cx="371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[INFO] Running TimeSlotTest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67275" y="2505075"/>
            <a:ext cx="371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[INFO] Tests run: 8, Failures: 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67275" y="2714625"/>
            <a:ext cx="371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67275" y="2981325"/>
            <a:ext cx="3638550" cy="895350"/>
          </a:xfrm>
          <a:prstGeom prst="roundRect">
            <a:avLst>
              <a:gd name="adj" fmla="val 6383"/>
            </a:avLst>
          </a:prstGeom>
          <a:solidFill>
            <a:srgbClr val="00BFA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886325" y="2981325"/>
            <a:ext cx="0" cy="895350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19675" y="3095625"/>
            <a:ext cx="3439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[INFO] Results: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19675" y="3286125"/>
            <a:ext cx="3439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run: 41, Failures: 0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19675" y="3419475"/>
            <a:ext cx="3439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Errors: 0, Skipped: 0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019675" y="3629025"/>
            <a:ext cx="3439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[INFO] BUILD SUCCESS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92608" y="469210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Highlights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98500"/>
            <a:ext cx="4019550" cy="1552277"/>
          </a:xfrm>
          <a:prstGeom prst="roundRect">
            <a:avLst>
              <a:gd name="adj" fmla="val 490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117550"/>
            <a:ext cx="4019550" cy="0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8650" y="1308050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8650" y="1734741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Events with UUID for unique identification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28650" y="2033736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Immutable event objects (thread-safe)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28650" y="2332732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Comparable interface for automatic sorting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67250" y="1098500"/>
            <a:ext cx="4019550" cy="1552277"/>
          </a:xfrm>
          <a:prstGeom prst="roundRect">
            <a:avLst>
              <a:gd name="adj" fmla="val 490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0" y="1117550"/>
            <a:ext cx="4019550" cy="0"/>
          </a:xfrm>
          <a:prstGeom prst="line">
            <a:avLst/>
          </a:prstGeom>
          <a:noFill/>
          <a:ln w="381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38700" y="1308050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38700" y="1734741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Interface-based design for flexibility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38700" y="2033736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In-memory storage with TreeSet for sorting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838700" y="2332732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Ready for future file/database implementations</a:t>
            </a:r>
            <a:endParaRPr lang="en-US" sz="825" dirty="0"/>
          </a:p>
        </p:txBody>
      </p:sp>
      <p:pic>
        <p:nvPicPr>
          <p:cNvPr id="16" name="Image 0" descr="/tmp/rasterized-gradient-a6eabd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30277"/>
            <a:ext cx="4019550" cy="181317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28650" y="3101727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 Finding Algorithm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8650" y="3528417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Working hours: 9 AM - 6 PM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628650" y="3827413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30-minute increment suggestions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628650" y="4126409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Handles edge cases (past times, day boundaries)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28650" y="4425404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Efficient gap detection between events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667250" y="2911227"/>
            <a:ext cx="4019550" cy="1851273"/>
          </a:xfrm>
          <a:prstGeom prst="roundRect">
            <a:avLst>
              <a:gd name="adj" fmla="val 4116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667250" y="2930277"/>
            <a:ext cx="4019550" cy="0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838700" y="3120777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Handling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38700" y="3547467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Custom exception hierarchy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38700" y="3846463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Clear, user-friendly error messages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38700" y="4145459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Validation at multiple layers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38700" y="4444454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No crashes — graceful error recovery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8722519" y="4768304"/>
            <a:ext cx="1190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Details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702296"/>
            <a:ext cx="2616250" cy="2049363"/>
          </a:xfrm>
          <a:prstGeom prst="roundRect">
            <a:avLst>
              <a:gd name="adj" fmla="val 37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1873746"/>
            <a:ext cx="231881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VALIDATION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28650" y="2308027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5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format validation with retry loop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28650" y="2683222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5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 must be positive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28650" y="3058418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5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 cannot be empty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28650" y="3433614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55"/>
              </a:lnSpc>
              <a:buFont typeface="Arial" panose="020B0604020202020204" pitchFamily="34" charset="0"/>
              <a:buChar char="•"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time must be after start time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263950" y="1702296"/>
            <a:ext cx="2616250" cy="2049363"/>
          </a:xfrm>
          <a:prstGeom prst="roundRect">
            <a:avLst>
              <a:gd name="adj" fmla="val 3718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35400" y="1873746"/>
            <a:ext cx="231881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EXPERIENCE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435400" y="2308027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5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prompts with format examples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35400" y="2683222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5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actions menu for common operations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435400" y="3058418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5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messages show what went wrong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435400" y="3433614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55"/>
              </a:lnSpc>
              <a:buFont typeface="Arial" panose="020B0604020202020204" pitchFamily="34" charset="0"/>
              <a:buChar char="•"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retry instead of crashing to menu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070699" y="1702296"/>
            <a:ext cx="2616250" cy="2049363"/>
          </a:xfrm>
          <a:prstGeom prst="roundRect">
            <a:avLst>
              <a:gd name="adj" fmla="val 371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42149" y="1873746"/>
            <a:ext cx="231881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ORGANIZATION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242149" y="2308027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5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 with setup and usage instructions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242149" y="2683222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5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for each component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242149" y="3058418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55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Comments where logic isn't obvious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242149" y="3433614"/>
            <a:ext cx="23188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155"/>
              </a:lnSpc>
              <a:buFont typeface="Arial" panose="020B0604020202020204" pitchFamily="34" charset="0"/>
              <a:buChar char="•"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package structure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92608" y="469210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Solutions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07740"/>
            <a:ext cx="4029075" cy="1461046"/>
          </a:xfrm>
          <a:prstGeom prst="roundRect">
            <a:avLst>
              <a:gd name="adj" fmla="val 521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341983"/>
            <a:ext cx="685800" cy="158055"/>
          </a:xfrm>
          <a:prstGeom prst="roundRect">
            <a:avLst>
              <a:gd name="adj" fmla="val 1807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6300" y="1361033"/>
            <a:ext cx="5440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562100" y="1341090"/>
            <a:ext cx="997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Overlap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0100" y="1729680"/>
            <a:ext cx="3623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to check if new event overlaps with any existing event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00100" y="2091630"/>
            <a:ext cx="3552825" cy="443805"/>
          </a:xfrm>
          <a:prstGeom prst="roundRect">
            <a:avLst>
              <a:gd name="adj" fmla="val 8585"/>
            </a:avLst>
          </a:prstGeom>
          <a:solidFill>
            <a:srgbClr val="E8F5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14388" y="2091630"/>
            <a:ext cx="0" cy="443805"/>
          </a:xfrm>
          <a:prstGeom prst="line">
            <a:avLst/>
          </a:prstGeom>
          <a:noFill/>
          <a:ln w="28575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04875" y="2167830"/>
            <a:ext cx="34392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904875" y="2325886"/>
            <a:ext cx="3439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startA &lt; endB &amp;&amp; startB &lt; endA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57725" y="1207740"/>
            <a:ext cx="4029075" cy="1461046"/>
          </a:xfrm>
          <a:prstGeom prst="roundRect">
            <a:avLst>
              <a:gd name="adj" fmla="val 521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00625" y="1341983"/>
            <a:ext cx="685800" cy="158055"/>
          </a:xfrm>
          <a:prstGeom prst="roundRect">
            <a:avLst>
              <a:gd name="adj" fmla="val 1807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6825" y="1361033"/>
            <a:ext cx="5440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762625" y="1341090"/>
            <a:ext cx="12740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Available Slots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00625" y="1729680"/>
            <a:ext cx="3623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to find all gaps in schedule, not just first one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00625" y="2091630"/>
            <a:ext cx="3552825" cy="443805"/>
          </a:xfrm>
          <a:prstGeom prst="roundRect">
            <a:avLst>
              <a:gd name="adj" fmla="val 8585"/>
            </a:avLst>
          </a:prstGeom>
          <a:solidFill>
            <a:srgbClr val="E8F5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014913" y="2091630"/>
            <a:ext cx="0" cy="443805"/>
          </a:xfrm>
          <a:prstGeom prst="line">
            <a:avLst/>
          </a:prstGeom>
          <a:noFill/>
          <a:ln w="28575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05400" y="2167830"/>
            <a:ext cx="34392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105400" y="2325886"/>
            <a:ext cx="3439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before first, between events, and after last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3236565"/>
            <a:ext cx="4029075" cy="1461046"/>
          </a:xfrm>
          <a:prstGeom prst="roundRect">
            <a:avLst>
              <a:gd name="adj" fmla="val 521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0100" y="3370808"/>
            <a:ext cx="685800" cy="158055"/>
          </a:xfrm>
          <a:prstGeom prst="roundRect">
            <a:avLst>
              <a:gd name="adj" fmla="val 1807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76300" y="3389858"/>
            <a:ext cx="5440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1562100" y="3369915"/>
            <a:ext cx="12117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Experience Flow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0100" y="3758505"/>
            <a:ext cx="3623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Going back to main menu after every action is tedious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00100" y="4120455"/>
            <a:ext cx="3552825" cy="443805"/>
          </a:xfrm>
          <a:prstGeom prst="roundRect">
            <a:avLst>
              <a:gd name="adj" fmla="val 8585"/>
            </a:avLst>
          </a:prstGeom>
          <a:solidFill>
            <a:srgbClr val="E8F5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814388" y="4120455"/>
            <a:ext cx="0" cy="443805"/>
          </a:xfrm>
          <a:prstGeom prst="line">
            <a:avLst/>
          </a:prstGeom>
          <a:noFill/>
          <a:ln w="28575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04875" y="4196655"/>
            <a:ext cx="34392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904875" y="4354711"/>
            <a:ext cx="3439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actions menu for common follow-up operations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57725" y="3236565"/>
            <a:ext cx="4029075" cy="1461046"/>
          </a:xfrm>
          <a:prstGeom prst="roundRect">
            <a:avLst>
              <a:gd name="adj" fmla="val 521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00625" y="3370808"/>
            <a:ext cx="685800" cy="158055"/>
          </a:xfrm>
          <a:prstGeom prst="roundRect">
            <a:avLst>
              <a:gd name="adj" fmla="val 1807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76825" y="3389858"/>
            <a:ext cx="5440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5762625" y="3369915"/>
            <a:ext cx="8680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Validation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00625" y="3758505"/>
            <a:ext cx="3623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date format crashes application to menu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00625" y="4120455"/>
            <a:ext cx="3552825" cy="443805"/>
          </a:xfrm>
          <a:prstGeom prst="roundRect">
            <a:avLst>
              <a:gd name="adj" fmla="val 8585"/>
            </a:avLst>
          </a:prstGeom>
          <a:solidFill>
            <a:srgbClr val="E8F5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014913" y="4120455"/>
            <a:ext cx="0" cy="443805"/>
          </a:xfrm>
          <a:prstGeom prst="line">
            <a:avLst/>
          </a:prstGeom>
          <a:noFill/>
          <a:ln w="28575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105400" y="4196655"/>
            <a:ext cx="34392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5105400" y="4354711"/>
            <a:ext cx="3439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Retry loop with clear examples until valid input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722519" y="4768304"/>
            <a:ext cx="1190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048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876300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spcAft>
                <a:spcPts val="1500"/>
              </a:spcAft>
              <a:buNone/>
            </a:pPr>
            <a:r>
              <a:rPr lang="en-US" sz="105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Potential Next Steps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033736"/>
            <a:ext cx="1943100" cy="1801713"/>
          </a:xfrm>
          <a:prstGeom prst="roundRect">
            <a:avLst>
              <a:gd name="adj" fmla="val 422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2052786"/>
            <a:ext cx="1943100" cy="0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09600" y="2224236"/>
            <a:ext cx="167106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2639467"/>
            <a:ext cx="1671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Save/load from JSON file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09600" y="3014663"/>
            <a:ext cx="167106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Database integration (PostgreSQL, MySQL)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09600" y="3536454"/>
            <a:ext cx="1671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Cloud storage support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552700" y="1585317"/>
            <a:ext cx="1943100" cy="2698700"/>
          </a:xfrm>
          <a:prstGeom prst="roundRect">
            <a:avLst>
              <a:gd name="adj" fmla="val 392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52700" y="1604367"/>
            <a:ext cx="1943100" cy="0"/>
          </a:xfrm>
          <a:prstGeom prst="line">
            <a:avLst/>
          </a:prstGeom>
          <a:noFill/>
          <a:ln w="381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05100" y="1775817"/>
            <a:ext cx="167106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621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705100" y="2191048"/>
            <a:ext cx="1671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Edit existing events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705100" y="2566243"/>
            <a:ext cx="167106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Recurring events (daily, weekly, monthly)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705100" y="3088035"/>
            <a:ext cx="1671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Search by title/date range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705100" y="3463230"/>
            <a:ext cx="167106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Event categories and color coding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705100" y="3985022"/>
            <a:ext cx="1671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Reminders and notifications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48200" y="2033736"/>
            <a:ext cx="1943100" cy="1801713"/>
          </a:xfrm>
          <a:prstGeom prst="roundRect">
            <a:avLst>
              <a:gd name="adj" fmla="val 422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48200" y="2052786"/>
            <a:ext cx="1943100" cy="0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0600" y="2224236"/>
            <a:ext cx="167106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Interface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800600" y="2639467"/>
            <a:ext cx="1671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GUI with JavaFX or Swing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00600" y="3014663"/>
            <a:ext cx="167106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Web interface (Spring Boot + React)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00600" y="3536454"/>
            <a:ext cx="1671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3D48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Mobile app integration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743700" y="2126159"/>
            <a:ext cx="1943100" cy="1617018"/>
          </a:xfrm>
          <a:prstGeom prst="roundRect">
            <a:avLst>
              <a:gd name="adj" fmla="val 4712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96100" y="2278559"/>
            <a:ext cx="167106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896100" y="2693789"/>
            <a:ext cx="1671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Google Calendar sync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896100" y="3068985"/>
            <a:ext cx="1671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Outlook calendar integration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896100" y="3444180"/>
            <a:ext cx="1671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iCal format export/import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292608" y="4692104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249859"/>
            <a:ext cx="2409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71500" y="1897559"/>
            <a:ext cx="480917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A0AE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 Management System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666" y="2480370"/>
            <a:ext cx="49306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666" y="2907060"/>
            <a:ext cx="493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356303" y="2480370"/>
            <a:ext cx="3945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56303" y="2907060"/>
            <a:ext cx="3458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998458" y="2480370"/>
            <a:ext cx="51674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98458" y="2907060"/>
            <a:ext cx="5167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71500" y="3320355"/>
            <a:ext cx="673596" cy="274290"/>
          </a:xfrm>
          <a:prstGeom prst="roundRect">
            <a:avLst>
              <a:gd name="adj" fmla="val 13890"/>
            </a:avLst>
          </a:prstGeom>
          <a:solidFill>
            <a:srgbClr val="00BFA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850" y="3377505"/>
            <a:ext cx="4150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11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40346" y="3320355"/>
            <a:ext cx="609898" cy="274290"/>
          </a:xfrm>
          <a:prstGeom prst="roundRect">
            <a:avLst>
              <a:gd name="adj" fmla="val 1389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73696" y="3377505"/>
            <a:ext cx="350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Maven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45494" y="3320355"/>
            <a:ext cx="622548" cy="274290"/>
          </a:xfrm>
          <a:prstGeom prst="roundRect">
            <a:avLst>
              <a:gd name="adj" fmla="val 1389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78844" y="3377505"/>
            <a:ext cx="3629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JUnit 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43575" y="1292572"/>
            <a:ext cx="2828925" cy="1401961"/>
          </a:xfrm>
          <a:prstGeom prst="roundRect">
            <a:avLst>
              <a:gd name="adj" fmla="val 543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762625" y="1292572"/>
            <a:ext cx="0" cy="1401961"/>
          </a:xfrm>
          <a:prstGeom prst="line">
            <a:avLst/>
          </a:prstGeom>
          <a:noFill/>
          <a:ln w="381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10275" y="1521172"/>
            <a:ext cx="23802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10275" y="1833563"/>
            <a:ext cx="23802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Name: Yashwanth Reddy Dasari Reddy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10275" y="2069753"/>
            <a:ext cx="23802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Email: yashwanth2632@gmail.com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10275" y="2305943"/>
            <a:ext cx="23802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[Your GitHub]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43575" y="2885033"/>
            <a:ext cx="2828925" cy="666750"/>
          </a:xfrm>
          <a:prstGeom prst="roundRect">
            <a:avLst>
              <a:gd name="adj" fmla="val 11429"/>
            </a:avLst>
          </a:prstGeom>
          <a:solidFill>
            <a:srgbClr val="00BFA5">
              <a:alpha val="10000"/>
            </a:srgbClr>
          </a:solidFill>
          <a:ln w="9525">
            <a:solidFill>
              <a:srgbClr val="00BFA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19311" y="3085058"/>
            <a:ext cx="24774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B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" y="4539704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buNone/>
            </a:pPr>
            <a:r>
              <a:rPr lang="en-US" sz="825" dirty="0">
                <a:solidFill>
                  <a:srgbClr val="5A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1837</Words>
  <Application>Microsoft Office PowerPoint</Application>
  <PresentationFormat>On-screen Show (16:9)</PresentationFormat>
  <Paragraphs>411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Courier New</vt:lpstr>
      <vt:lpstr>JetBrains Mono</vt:lpstr>
      <vt:lpstr>monospace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Calendar Management System</dc:title>
  <dc:subject>Java Application Presentation</dc:subject>
  <dc:creator>Developer</dc:creator>
  <cp:lastModifiedBy>Dasari Reddy, Yashwanth Reddy</cp:lastModifiedBy>
  <cp:revision>3</cp:revision>
  <dcterms:created xsi:type="dcterms:W3CDTF">2025-12-15T01:55:03Z</dcterms:created>
  <dcterms:modified xsi:type="dcterms:W3CDTF">2025-12-15T03:10:02Z</dcterms:modified>
</cp:coreProperties>
</file>